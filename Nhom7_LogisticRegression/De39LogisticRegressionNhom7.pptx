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76092"/>
                </a:solidFill>
              </a:defRPr>
            </a:pPr>
            <a:r>
              <a:t>ĐỀ 39</a:t>
            </a:r>
          </a:p>
          <a:p>
            <a:pPr>
              <a:spcBef>
                <a:spcPts val="800"/>
              </a:spcBef>
              <a:defRPr sz="3100" b="1">
                <a:solidFill>
                  <a:srgbClr val="192F59"/>
                </a:solidFill>
              </a:defRPr>
            </a:pPr>
            <a:r>
              <a:t>PHÂN TÍCH DỮ LIỆU KIỂM THỬ VÀ DỰ ĐOÁN</a:t>
            </a:r>
            <a:br/>
            <a:r>
              <a:t>KHẢ NĂNG TEST CASE THẤT BẠI</a:t>
            </a:r>
          </a:p>
          <a:p>
            <a:pPr>
              <a:spcBef>
                <a:spcPts val="1400"/>
              </a:spcBef>
              <a:defRPr sz="2300">
                <a:solidFill>
                  <a:srgbClr val="5F6978"/>
                </a:solidFill>
              </a:defRPr>
            </a:pPr>
            <a:r>
              <a:t>Thuật toán: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09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Nhóm 7 – Lớp 523100B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Thành viên: ........................................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Giảng viên: ........................................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Bài toán và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Bài toán: sử dụng dữ liệu kiểm thử phần mềm để dự đoán một test case có khả năng Pass hay Fail.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Mục tiêu 1: kiểm tra, làm sạch và phân tích đặc điểm của dữ liệu test case.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Mục tiêu 2: xác định mối liên hệ giữa các yếu tố như độ phức tạp, lỗi trước đó, thay đổi mã nguồn và kết quả kiểm thử.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Mục tiêu 3: xây dựng mô hình Logistic Regression dự đoán Failed = 0 (Pass) hoặc Failed = 1 (Fail).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Mục tiêu 4: đánh giá mô hình bằng Accuracy, Precision, Recall, F1-score và ROC-AUC.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Dữ liệu sử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852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Dữ liệu ban đầu: 302 dòng × 8 cột; sau xóa trùng còn 300 test case.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TestCaseID: mã test case.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ExecutionTime: thời gian thực thi test case.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Complexity: mức độ phức tạp (1–10).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PreviousFailures: số lần thất bại trước đó; CodeChanges: số thay đổi mã nguồn.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TesterExperience: kinh nghiệm người kiểm thử; TestType: loại kiểm thử.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Failed: biến mục tiêu — 0 = Pass, 1 = Fail.</a:t>
            </a:r>
          </a:p>
        </p:txBody>
      </p:sp>
      <p:pic>
        <p:nvPicPr>
          <p:cNvPr id="7" name="Picture 6" descr="bieu_do_1_pass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25880"/>
            <a:ext cx="4754880" cy="3169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56235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F6978"/>
                </a:solidFill>
              </a:defRPr>
            </a:pPr>
            <a:r>
              <a:t>Phân bố kết quả Pass/Fail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Kiểm tra, tiền xử lý và thống kê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Phát hiện 3 giá trị thiếu ở TesterExperience và 2 dòng trùng.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Phát hiện Complexity = 12 và CodeChanges = -2 là các giá trị không hợp lệ.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ExecutionTime có ngoại lệ; xác định bằng phương pháp IQR và giới hạn về ngưỡng IQR.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Giá trị thiếu/không hợp lệ được xử lý bằng median trong pipeline.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Một số tương quan với Failed: Complexity ≈ 0,246; PreviousFailures ≈ 0,243; ExecutionTime ≈ 0,212; TesterExperience ≈ -0,164.</a:t>
            </a:r>
          </a:p>
        </p:txBody>
      </p:sp>
      <p:pic>
        <p:nvPicPr>
          <p:cNvPr id="7" name="Picture 6" descr="bieu_do_2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97280"/>
            <a:ext cx="5394960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Cơ sở toán học và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92F59"/>
                </a:solidFill>
              </a:defRPr>
            </a:pPr>
            <a:r>
              <a:t>z = b₀ + b₁x₁ + b₂x₂ + ... + bₙxₙ</a:t>
            </a:r>
          </a:p>
          <a:p>
            <a:pPr algn="ctr">
              <a:defRPr sz="3000" b="1">
                <a:solidFill>
                  <a:srgbClr val="376092"/>
                </a:solidFill>
              </a:defRPr>
            </a:pPr>
            <a:r>
              <a:t>P(Fail = 1 | X) = 1 / (1 + e⁻ᶻ)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Hàm sigmoid biến giá trị z thành xác suất từ 0 đến 1.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Nếu xác suất ≥ 0,5 → dự đoán Fail (1); nếu &lt; 0,5 → dự đoán Pass (0).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Dữ liệu được chia 80% Train và 20% Test: 240 test case huấn luyện, 60 test case kiểm tra.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Các biến số được chuẩn hóa; TestType được One-Hot Encoding trước khi đưa vào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Kết quả mô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87552"/>
            <a:ext cx="2011680" cy="914400"/>
          </a:xfrm>
          <a:prstGeom prst="roundRect">
            <a:avLst/>
          </a:prstGeom>
          <a:solidFill>
            <a:srgbClr val="F0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078992"/>
            <a:ext cx="18653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F59"/>
                </a:solidFill>
              </a:defRPr>
            </a:pPr>
            <a:r>
              <a:t>Accuracy</a:t>
            </a:r>
          </a:p>
          <a:p>
            <a:pPr algn="ctr">
              <a:defRPr sz="2100" b="1">
                <a:solidFill>
                  <a:srgbClr val="376092"/>
                </a:solidFill>
              </a:defRPr>
            </a:pPr>
            <a:r>
              <a:t>78,33%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987552"/>
            <a:ext cx="2011680" cy="914400"/>
          </a:xfrm>
          <a:prstGeom prst="roundRect">
            <a:avLst/>
          </a:prstGeom>
          <a:solidFill>
            <a:srgbClr val="F0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078992"/>
            <a:ext cx="18653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F59"/>
                </a:solidFill>
              </a:defRPr>
            </a:pPr>
            <a:r>
              <a:t>Precision</a:t>
            </a:r>
          </a:p>
          <a:p>
            <a:pPr algn="ctr">
              <a:defRPr sz="2100" b="1">
                <a:solidFill>
                  <a:srgbClr val="376092"/>
                </a:solidFill>
              </a:defRPr>
            </a:pPr>
            <a:r>
              <a:t>80,00%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987552"/>
            <a:ext cx="2011680" cy="914400"/>
          </a:xfrm>
          <a:prstGeom prst="roundRect">
            <a:avLst/>
          </a:prstGeom>
          <a:solidFill>
            <a:srgbClr val="F0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1078992"/>
            <a:ext cx="18653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F59"/>
                </a:solidFill>
              </a:defRPr>
            </a:pPr>
            <a:r>
              <a:t>Recall</a:t>
            </a:r>
          </a:p>
          <a:p>
            <a:pPr algn="ctr">
              <a:defRPr sz="2100" b="1">
                <a:solidFill>
                  <a:srgbClr val="376092"/>
                </a:solidFill>
              </a:defRPr>
            </a:pPr>
            <a:r>
              <a:t>64,00%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15784" y="987552"/>
            <a:ext cx="2011680" cy="914400"/>
          </a:xfrm>
          <a:prstGeom prst="roundRect">
            <a:avLst/>
          </a:prstGeom>
          <a:solidFill>
            <a:srgbClr val="F0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88936" y="1078992"/>
            <a:ext cx="18653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F59"/>
                </a:solidFill>
              </a:defRPr>
            </a:pPr>
            <a:r>
              <a:t>F1-score</a:t>
            </a:r>
          </a:p>
          <a:p>
            <a:pPr algn="ctr">
              <a:defRPr sz="2100" b="1">
                <a:solidFill>
                  <a:srgbClr val="376092"/>
                </a:solidFill>
              </a:defRPr>
            </a:pPr>
            <a:r>
              <a:t>71,11%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20072" y="987552"/>
            <a:ext cx="2011680" cy="914400"/>
          </a:xfrm>
          <a:prstGeom prst="roundRect">
            <a:avLst/>
          </a:prstGeom>
          <a:solidFill>
            <a:srgbClr val="F0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93224" y="1078992"/>
            <a:ext cx="18653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F59"/>
                </a:solidFill>
              </a:defRPr>
            </a:pPr>
            <a:r>
              <a:t>ROC-AUC</a:t>
            </a:r>
          </a:p>
          <a:p>
            <a:pPr algn="ctr">
              <a:defRPr sz="2100" b="1">
                <a:solidFill>
                  <a:srgbClr val="376092"/>
                </a:solidFill>
              </a:defRPr>
            </a:pPr>
            <a:r>
              <a:t>81,14%</a:t>
            </a:r>
          </a:p>
        </p:txBody>
      </p:sp>
      <p:pic>
        <p:nvPicPr>
          <p:cNvPr id="16" name="Picture 15" descr="bieu_do_3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5212080" cy="3909060"/>
          </a:xfrm>
          <a:prstGeom prst="rect">
            <a:avLst/>
          </a:prstGeom>
        </p:spPr>
      </p:pic>
      <p:pic>
        <p:nvPicPr>
          <p:cNvPr id="17" name="Picture 16" descr="bieu_do_4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4028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Nhận xét và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Logistic Regression dự đoán đúng khoảng 78,33% test case trên tập kiểm tra.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Precision 80%: khi mô hình dự đoán Fail, phần lớn các dự đoán đó là đúng.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Recall 64%: mô hình phát hiện được 64% số test case Fail thực tế; vẫn còn các trường hợp Fail bị bỏ sót.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Trong bộ dữ liệu này, Complexity, PreviousFailures và ExecutionTime có tương quan dương với Failed; TesterExperience có tương quan âm.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Mô hình phù hợp làm mô hình phân loại cơ sở vì đầu ra chỉ có hai lớp Pass/Fail và xác suất dự đoán dễ diễn giải.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Hướng phát triển: bổ sung dữ liệu kiểm thử thực tế, thêm thuộc tính liên quan và so sánh Logistic Regression với Decision Tree/Random Forest.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